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sldIdLst>
    <p:sldId id="283" r:id="rId2"/>
    <p:sldId id="257" r:id="rId3"/>
    <p:sldId id="282" r:id="rId4"/>
    <p:sldId id="285" r:id="rId5"/>
    <p:sldId id="278" r:id="rId6"/>
    <p:sldId id="281" r:id="rId7"/>
    <p:sldId id="279" r:id="rId8"/>
    <p:sldId id="262" r:id="rId9"/>
    <p:sldId id="264" r:id="rId10"/>
    <p:sldId id="286" r:id="rId11"/>
    <p:sldId id="287" r:id="rId12"/>
    <p:sldId id="280" r:id="rId13"/>
    <p:sldId id="288" r:id="rId14"/>
    <p:sldId id="290" r:id="rId15"/>
    <p:sldId id="289" r:id="rId16"/>
    <p:sldId id="276"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DCDCB8-E336-06C9-9BC1-C212CD122CD0}" v="1" dt="2026-06-23T04:41:50.196"/>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79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a:t>
            </a:r>
            <a:r>
              <a:rPr lang="en-US" b="1" i="1" err="1"/>
              <a:t>LangFlow</a:t>
            </a:r>
            <a:r>
              <a:rPr lang="en-US" b="1" i="1"/>
              <a:t>”</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687275025"/>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GB" sz="2000" dirty="0"/>
                        <a:t>Neha </a:t>
                      </a:r>
                      <a:r>
                        <a:rPr lang="en-GB" sz="2000" dirty="0" err="1"/>
                        <a:t>Shirsath</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GB" dirty="0"/>
                        <a:t>nehashirsath1010@gmail.com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GB" dirty="0"/>
                        <a:t>8799936379</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IN" sz="2400" dirty="0"/>
              <a:t>Food Technology / Artificial Intelligence</a:t>
            </a:r>
            <a:endParaRPr lang="en-IN" sz="2400" b="1" dirty="0"/>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954107"/>
          </a:xfrm>
          <a:prstGeom prst="rect">
            <a:avLst/>
          </a:prstGeom>
          <a:noFill/>
        </p:spPr>
        <p:txBody>
          <a:bodyPr wrap="square" rtlCol="0">
            <a:spAutoFit/>
          </a:bodyPr>
          <a:lstStyle/>
          <a:p>
            <a:r>
              <a:rPr lang="en-US" sz="2400" b="1" dirty="0"/>
              <a:t>Project Title – </a:t>
            </a:r>
            <a:r>
              <a:rPr lang="en-US" sz="2800" b="1" dirty="0">
                <a:solidFill>
                  <a:srgbClr val="002060"/>
                </a:solidFill>
                <a:latin typeface="+mj-lt"/>
                <a:ea typeface="Times New Roman"/>
                <a:cs typeface="Times New Roman"/>
                <a:sym typeface="Times New Roman"/>
              </a:rPr>
              <a:t>Document Q&amp;A RAG Agent for Recipe Generator </a:t>
            </a:r>
            <a:endParaRPr lang="en-IN" sz="2800" b="1" dirty="0">
              <a:highlight>
                <a:srgbClr val="FFFF00"/>
              </a:highlight>
              <a:latin typeface="+mj-lt"/>
            </a:endParaRPr>
          </a:p>
        </p:txBody>
      </p:sp>
      <p:pic>
        <p:nvPicPr>
          <p:cNvPr id="5" name="Picture 4">
            <a:extLst>
              <a:ext uri="{FF2B5EF4-FFF2-40B4-BE49-F238E27FC236}">
                <a16:creationId xmlns:a16="http://schemas.microsoft.com/office/drawing/2014/main" id="{441B0CE2-9492-891E-160F-4440F96EA501}"/>
              </a:ext>
            </a:extLst>
          </p:cNvPr>
          <p:cNvPicPr>
            <a:picLocks noChangeAspect="1"/>
          </p:cNvPicPr>
          <p:nvPr/>
        </p:nvPicPr>
        <p:blipFill>
          <a:blip r:embed="rId3"/>
          <a:srcRect l="5360" t="2005" r="3818" b="13820"/>
          <a:stretch>
            <a:fillRect/>
          </a:stretch>
        </p:blipFill>
        <p:spPr>
          <a:xfrm>
            <a:off x="4164038" y="3687274"/>
            <a:ext cx="801858" cy="88372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463531" y="1515794"/>
            <a:ext cx="10607040" cy="4185761"/>
          </a:xfrm>
          <a:prstGeom prst="rect">
            <a:avLst/>
          </a:prstGeom>
          <a:noFill/>
        </p:spPr>
        <p:txBody>
          <a:bodyPr wrap="square" rtlCol="0">
            <a:spAutoFit/>
          </a:bodyPr>
          <a:lstStyle/>
          <a:p>
            <a:r>
              <a:rPr lang="en-GB" b="1" dirty="0"/>
              <a:t>Problem Statement: Document Q&amp;A RAG Agent for Recipe Generator</a:t>
            </a:r>
          </a:p>
          <a:p>
            <a:endParaRPr lang="en-GB" b="1" dirty="0"/>
          </a:p>
          <a:p>
            <a:r>
              <a:rPr lang="en-GB" b="1" dirty="0"/>
              <a:t>The Challenge</a:t>
            </a:r>
          </a:p>
          <a:p>
            <a:r>
              <a:rPr lang="en-GB" dirty="0"/>
              <a:t>Food enthusiasts and culinary professionals often rely on unstructured recipe documents such as cookbooks, PDFs, blogs, handwritten notes, and online articles. Searching across these scattered resources is time-consuming, and adapting recipes based on dietary restrictions, available ingredients, cooking time, or cultural preferences is difficult. Existing recipe search systems mainly perform keyword searches and cannot understand natural language questions or generate personalized cooking guidance.</a:t>
            </a:r>
          </a:p>
          <a:p>
            <a:endParaRPr lang="en-GB" dirty="0"/>
          </a:p>
          <a:p>
            <a:r>
              <a:rPr lang="en-GB" b="1" dirty="0"/>
              <a:t>The Objective</a:t>
            </a:r>
          </a:p>
          <a:p>
            <a:r>
              <a:rPr lang="en-GB" dirty="0"/>
              <a:t>Build an AI-powered Document Q&amp;A Retrieval-Augmented Generation (RAG) Agent that intelligently retrieves and personalizes recipes.</a:t>
            </a:r>
          </a:p>
          <a:p>
            <a:r>
              <a:rPr lang="en-GB" dirty="0"/>
              <a:t>The solution should:</a:t>
            </a:r>
          </a:p>
          <a:p>
            <a:r>
              <a:rPr lang="en-GB" dirty="0"/>
              <a:t>• Ingest and index recipe documents from PDFs, cookbooks, blogs, and uploaded notes.</a:t>
            </a:r>
          </a:p>
          <a:p>
            <a:r>
              <a:rPr lang="en-GB" dirty="0"/>
              <a:t>• Enable conversational question answering for recipe-related queries.</a:t>
            </a:r>
          </a:p>
          <a:p>
            <a:r>
              <a:rPr lang="en-GB" dirty="0"/>
              <a:t>• Personalize recipes based on dietary restrictions, available ingredients, cooking time, and cuisine preferences.</a:t>
            </a:r>
          </a:p>
          <a:p>
            <a:r>
              <a:rPr lang="en-GB" dirty="0"/>
              <a:t>• Generate step-by-step cooking instructions.</a:t>
            </a:r>
          </a:p>
          <a:p>
            <a:r>
              <a:rPr lang="en-GB" dirty="0"/>
              <a:t>• Suggest ingredient substitutions.</a:t>
            </a:r>
          </a:p>
          <a:p>
            <a:r>
              <a:rPr lang="en-GB" dirty="0"/>
              <a:t>• Display nutritional facts and generate shopping lists.</a:t>
            </a:r>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079481"/>
            <a:ext cx="11039856" cy="6124754"/>
          </a:xfrm>
          <a:prstGeom prst="rect">
            <a:avLst/>
          </a:prstGeom>
          <a:noFill/>
        </p:spPr>
        <p:txBody>
          <a:bodyPr wrap="square" rtlCol="0">
            <a:spAutoFit/>
          </a:bodyPr>
          <a:lstStyle/>
          <a:p>
            <a:pPr fontAlgn="base"/>
            <a:endParaRPr lang="en-US" b="1" dirty="0"/>
          </a:p>
          <a:p>
            <a:r>
              <a:rPr lang="en-GB" b="1" dirty="0"/>
              <a:t>Proposed Solution: AI-Powered Recipe Generator using Document Q&amp;A RAG</a:t>
            </a:r>
          </a:p>
          <a:p>
            <a:r>
              <a:rPr lang="en-GB" dirty="0"/>
              <a:t>The proposed solution is an AI-powered Document Q&amp;A RAG Agent built using IBM </a:t>
            </a:r>
            <a:r>
              <a:rPr lang="en-GB" dirty="0" err="1"/>
              <a:t>LangFlow</a:t>
            </a:r>
            <a:r>
              <a:rPr lang="en-GB" dirty="0"/>
              <a:t>, IBM watsonx.ai, IBM Granite Models, and Retrieval-Augmented Generation (RAG). The system transforms traditional recipe documents into an intelligent cooking assistant capable of answering natural language questions and generating personalized recipes.</a:t>
            </a:r>
          </a:p>
          <a:p>
            <a:r>
              <a:rPr lang="en-GB" dirty="0"/>
              <a:t>The solution begins by ingesting recipe documents from cookbooks, PDFs, blogs, and handwritten notes. These documents are parsed, cleaned, divided into semantic chunks, and converted into vector embeddings. The embeddings are stored inside a Vector Database (FAISS or </a:t>
            </a:r>
            <a:r>
              <a:rPr lang="en-GB" dirty="0" err="1"/>
              <a:t>ChromaDB</a:t>
            </a:r>
            <a:r>
              <a:rPr lang="en-GB" dirty="0"/>
              <a:t>), enabling semantic search over thousands of recipes.</a:t>
            </a:r>
          </a:p>
          <a:p>
            <a:r>
              <a:rPr lang="en-GB" dirty="0"/>
              <a:t>When users ask questions such as:</a:t>
            </a:r>
          </a:p>
          <a:p>
            <a:r>
              <a:rPr lang="en-GB" i="1" dirty="0"/>
              <a:t>"How can I make a sugar-free chocolate cake?"</a:t>
            </a:r>
            <a:r>
              <a:rPr lang="en-GB" dirty="0" err="1"/>
              <a:t>or</a:t>
            </a:r>
            <a:r>
              <a:rPr lang="en-GB" i="1" dirty="0" err="1"/>
              <a:t>"Suggest</a:t>
            </a:r>
            <a:r>
              <a:rPr lang="en-GB" i="1" dirty="0"/>
              <a:t> a high-protein Indian dinner using paneer and spinach."</a:t>
            </a:r>
            <a:endParaRPr lang="en-GB" dirty="0"/>
          </a:p>
          <a:p>
            <a:r>
              <a:rPr lang="en-GB" dirty="0"/>
              <a:t>the Retriever searches the knowledge base and provides the most relevant recipe information to IBM Granite Models through the RAG pipeline.</a:t>
            </a:r>
          </a:p>
          <a:p>
            <a:r>
              <a:rPr lang="en-GB" dirty="0"/>
              <a:t>The AI then generates personalized cooking instructions according to user preferences such as: Dietary restrictions, Available ingredients, Cooking time, Cuisine </a:t>
            </a:r>
            <a:r>
              <a:rPr lang="en-GB" dirty="0" err="1"/>
              <a:t>preferences,Skill</a:t>
            </a:r>
            <a:r>
              <a:rPr lang="en-GB" dirty="0"/>
              <a:t> level</a:t>
            </a:r>
          </a:p>
          <a:p>
            <a:r>
              <a:rPr lang="en-GB" dirty="0"/>
              <a:t>The generated response includes:</a:t>
            </a:r>
          </a:p>
          <a:p>
            <a:r>
              <a:rPr lang="en-GB" dirty="0"/>
              <a:t>• Personalized recipe</a:t>
            </a:r>
          </a:p>
          <a:p>
            <a:r>
              <a:rPr lang="en-GB" dirty="0"/>
              <a:t>• Step-by-step cooking instructions</a:t>
            </a:r>
          </a:p>
          <a:p>
            <a:r>
              <a:rPr lang="en-GB" dirty="0"/>
              <a:t>• Ingredient substitutions</a:t>
            </a:r>
          </a:p>
          <a:p>
            <a:r>
              <a:rPr lang="en-GB" dirty="0"/>
              <a:t>• Nutritional facts</a:t>
            </a:r>
          </a:p>
          <a:p>
            <a:r>
              <a:rPr lang="en-GB" dirty="0"/>
              <a:t>• Estimated cooking time</a:t>
            </a:r>
          </a:p>
          <a:p>
            <a:r>
              <a:rPr lang="en-GB" dirty="0"/>
              <a:t>• Shopping list</a:t>
            </a:r>
          </a:p>
          <a:p>
            <a:r>
              <a:rPr lang="en-GB" dirty="0"/>
              <a:t>IBM </a:t>
            </a:r>
            <a:r>
              <a:rPr lang="en-GB" dirty="0" err="1"/>
              <a:t>LangFlow</a:t>
            </a:r>
            <a:r>
              <a:rPr lang="en-GB" dirty="0"/>
              <a:t> orchestrates the complete multi-agent workflow, while IBM watsonx.ai manages embeddings, model deployment, and AI governance. Granite Models perform reasoning, summarization, recipe adaptation, and conversational interactions.</a:t>
            </a:r>
          </a:p>
          <a:p>
            <a:r>
              <a:rPr lang="en-GB" dirty="0"/>
              <a:t>Overall, the solution delivers an intelligent, personalized, and context-aware cooking assistant that simplifies recipe discovery and enhances the cooking experience.</a:t>
            </a:r>
          </a:p>
          <a:p>
            <a:br>
              <a:rPr lang="en-GB" dirty="0"/>
            </a:br>
            <a:endParaRPr lang="en-GB"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946297"/>
            <a:ext cx="10515600" cy="6124754"/>
          </a:xfrm>
          <a:prstGeom prst="rect">
            <a:avLst/>
          </a:prstGeom>
          <a:noFill/>
        </p:spPr>
        <p:txBody>
          <a:bodyPr wrap="square" lIns="91440" tIns="45720" rIns="91440" bIns="45720" rtlCol="0" anchor="t">
            <a:spAutoFit/>
          </a:bodyPr>
          <a:lstStyle/>
          <a:p>
            <a:r>
              <a:rPr lang="en-IN" sz="1800" b="1" dirty="0"/>
              <a:t>IBM </a:t>
            </a:r>
            <a:r>
              <a:rPr lang="en-IN" sz="1800" b="1" dirty="0" err="1"/>
              <a:t>LangFlow</a:t>
            </a:r>
            <a:r>
              <a:rPr lang="en-IN" sz="1800" b="1" dirty="0"/>
              <a:t> - </a:t>
            </a:r>
            <a:r>
              <a:rPr lang="en-IN" sz="1800" dirty="0"/>
              <a:t>Used for designing and orchestrating the multi-agent workflow visually.</a:t>
            </a:r>
          </a:p>
          <a:p>
            <a:r>
              <a:rPr lang="en-IN" sz="1800" b="1" dirty="0"/>
              <a:t>IBM Granite Model - Granite-4.0-8B-Instruct</a:t>
            </a:r>
            <a:endParaRPr lang="en-IN" sz="1800" dirty="0"/>
          </a:p>
          <a:p>
            <a:r>
              <a:rPr lang="en-IN" sz="1800" dirty="0"/>
              <a:t>Used for:</a:t>
            </a:r>
          </a:p>
          <a:p>
            <a:r>
              <a:rPr lang="en-IN" sz="1800" dirty="0"/>
              <a:t>• Natural language understanding</a:t>
            </a:r>
          </a:p>
          <a:p>
            <a:r>
              <a:rPr lang="en-IN" sz="1800" dirty="0"/>
              <a:t>• Recipe generation</a:t>
            </a:r>
          </a:p>
          <a:p>
            <a:r>
              <a:rPr lang="en-IN" sz="1800" dirty="0"/>
              <a:t>• Conversational reasoning</a:t>
            </a:r>
          </a:p>
          <a:p>
            <a:r>
              <a:rPr lang="en-IN" sz="1800" dirty="0"/>
              <a:t>• Personalization</a:t>
            </a:r>
          </a:p>
          <a:p>
            <a:r>
              <a:rPr lang="en-IN" sz="1800" b="1" dirty="0"/>
              <a:t>IBM Cloud -</a:t>
            </a:r>
            <a:r>
              <a:rPr lang="en-IN" sz="1800" dirty="0"/>
              <a:t>Provides scalable cloud infrastructure for deploying the Recipe Generator securely and efficiently.</a:t>
            </a:r>
          </a:p>
          <a:p>
            <a:r>
              <a:rPr lang="en-IN" sz="1800" b="1" dirty="0"/>
              <a:t>Retrieval-Augmented Generation (RAG)</a:t>
            </a:r>
          </a:p>
          <a:p>
            <a:r>
              <a:rPr lang="en-IN" sz="1800" dirty="0"/>
              <a:t>Retrieves authentic recipe information from uploaded documents before generating responses, ensuring accurate and context-aware recipe recommendations.</a:t>
            </a:r>
          </a:p>
          <a:p>
            <a:r>
              <a:rPr lang="en-IN" sz="1800" b="1" dirty="0"/>
              <a:t>IBM watsonx.ai</a:t>
            </a:r>
          </a:p>
          <a:p>
            <a:r>
              <a:rPr lang="en-IN" sz="1800" dirty="0"/>
              <a:t>Used for:</a:t>
            </a:r>
          </a:p>
          <a:p>
            <a:r>
              <a:rPr lang="en-IN" sz="1800" dirty="0"/>
              <a:t>• Model deployment</a:t>
            </a:r>
          </a:p>
          <a:p>
            <a:r>
              <a:rPr lang="en-IN" sz="1800" dirty="0"/>
              <a:t>• Embedding generation</a:t>
            </a:r>
          </a:p>
          <a:p>
            <a:r>
              <a:rPr lang="en-IN" sz="1800" dirty="0"/>
              <a:t>• AI governance</a:t>
            </a:r>
          </a:p>
          <a:p>
            <a:r>
              <a:rPr lang="en-IN" sz="1800" b="1" dirty="0"/>
              <a:t>Vector Database (FAISS / </a:t>
            </a:r>
            <a:r>
              <a:rPr lang="en-IN" sz="1800" b="1" dirty="0" err="1"/>
              <a:t>ChromaDB</a:t>
            </a:r>
            <a:r>
              <a:rPr lang="en-IN" sz="1800" b="1" dirty="0"/>
              <a:t>)</a:t>
            </a:r>
          </a:p>
          <a:p>
            <a:r>
              <a:rPr lang="en-IN" sz="1800" dirty="0"/>
              <a:t>Stores recipe embeddings for semantic search and fast retrieval.</a:t>
            </a:r>
          </a:p>
          <a:p>
            <a:br>
              <a:rPr lang="en-IN" sz="1800" dirty="0"/>
            </a:br>
            <a:endParaRPr lang="en-IN" sz="1800"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component Used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36097" y="863187"/>
            <a:ext cx="9636369" cy="6771084"/>
          </a:xfrm>
          <a:prstGeom prst="rect">
            <a:avLst/>
          </a:prstGeom>
          <a:noFill/>
        </p:spPr>
        <p:txBody>
          <a:bodyPr wrap="square" rtlCol="0">
            <a:spAutoFit/>
          </a:bodyPr>
          <a:lstStyle/>
          <a:p>
            <a:endParaRPr lang="en-US" dirty="0"/>
          </a:p>
          <a:p>
            <a:r>
              <a:rPr lang="en-IN" b="1" dirty="0"/>
              <a:t>1. Chat Input- </a:t>
            </a:r>
            <a:r>
              <a:rPr lang="en-IN" dirty="0"/>
              <a:t>Accepts user questions and preferences such as:</a:t>
            </a:r>
          </a:p>
          <a:p>
            <a:r>
              <a:rPr lang="en-IN" dirty="0"/>
              <a:t>• Available ingredients</a:t>
            </a:r>
          </a:p>
          <a:p>
            <a:r>
              <a:rPr lang="en-IN" dirty="0"/>
              <a:t>• Dietary restrictions</a:t>
            </a:r>
          </a:p>
          <a:p>
            <a:r>
              <a:rPr lang="en-IN" dirty="0"/>
              <a:t>• Cuisine</a:t>
            </a:r>
          </a:p>
          <a:p>
            <a:r>
              <a:rPr lang="en-IN" dirty="0"/>
              <a:t>• Cooking time</a:t>
            </a:r>
          </a:p>
          <a:p>
            <a:r>
              <a:rPr lang="en-IN" b="1" dirty="0"/>
              <a:t>2. IBM </a:t>
            </a:r>
            <a:r>
              <a:rPr lang="en-IN" b="1" dirty="0" err="1"/>
              <a:t>watsonx</a:t>
            </a:r>
            <a:r>
              <a:rPr lang="en-IN" b="1" dirty="0"/>
              <a:t> AI Agent- </a:t>
            </a:r>
            <a:r>
              <a:rPr lang="en-IN" dirty="0"/>
              <a:t>Processes user queries using IBM Granite Models and retrieves relevant recipe knowledge through RAG.</a:t>
            </a:r>
          </a:p>
          <a:p>
            <a:r>
              <a:rPr lang="en-IN" b="1" dirty="0"/>
              <a:t>3. IBM Granite Model - Granite-4.0-8B-Instruct</a:t>
            </a:r>
            <a:endParaRPr lang="en-IN" dirty="0"/>
          </a:p>
          <a:p>
            <a:r>
              <a:rPr lang="en-IN" dirty="0"/>
              <a:t>Generates:</a:t>
            </a:r>
          </a:p>
          <a:p>
            <a:r>
              <a:rPr lang="en-IN" dirty="0"/>
              <a:t>• Personalized recipes</a:t>
            </a:r>
          </a:p>
          <a:p>
            <a:r>
              <a:rPr lang="en-IN" dirty="0"/>
              <a:t>• Ingredient substitutions</a:t>
            </a:r>
          </a:p>
          <a:p>
            <a:r>
              <a:rPr lang="en-IN" dirty="0"/>
              <a:t>• Cooking guidance</a:t>
            </a:r>
          </a:p>
          <a:p>
            <a:r>
              <a:rPr lang="en-IN" dirty="0"/>
              <a:t>• Shopping lists</a:t>
            </a:r>
          </a:p>
          <a:p>
            <a:r>
              <a:rPr lang="en-IN" b="1" dirty="0"/>
              <a:t>4. Chat Output - </a:t>
            </a:r>
            <a:r>
              <a:rPr lang="en-IN" dirty="0"/>
              <a:t>Displays: Recipe, Cooking steps, </a:t>
            </a:r>
            <a:r>
              <a:rPr lang="en-IN" dirty="0" err="1"/>
              <a:t>Nutrition,Shopping</a:t>
            </a:r>
            <a:r>
              <a:rPr lang="en-IN" dirty="0"/>
              <a:t> </a:t>
            </a:r>
            <a:r>
              <a:rPr lang="en-IN" dirty="0" err="1"/>
              <a:t>list,Tips</a:t>
            </a:r>
            <a:endParaRPr lang="en-IN" dirty="0"/>
          </a:p>
          <a:p>
            <a:r>
              <a:rPr lang="en-IN" b="1" dirty="0"/>
              <a:t>5. File Component - </a:t>
            </a:r>
            <a:r>
              <a:rPr lang="en-IN" dirty="0"/>
              <a:t>Uploads recipe documents including:</a:t>
            </a:r>
          </a:p>
          <a:p>
            <a:r>
              <a:rPr lang="en-IN" dirty="0"/>
              <a:t>• PDFs</a:t>
            </a:r>
          </a:p>
          <a:p>
            <a:r>
              <a:rPr lang="en-IN" dirty="0"/>
              <a:t>• Cookbooks</a:t>
            </a:r>
          </a:p>
          <a:p>
            <a:r>
              <a:rPr lang="en-IN" dirty="0"/>
              <a:t>• Blogs</a:t>
            </a:r>
          </a:p>
          <a:p>
            <a:r>
              <a:rPr lang="en-IN" dirty="0"/>
              <a:t>• Recipe notes</a:t>
            </a:r>
          </a:p>
          <a:p>
            <a:r>
              <a:rPr lang="en-IN" b="1" dirty="0"/>
              <a:t>6. Vector Store Component</a:t>
            </a:r>
          </a:p>
          <a:p>
            <a:r>
              <a:rPr lang="en-IN" dirty="0"/>
              <a:t>Stores document embeddings for semantic retrieval.</a:t>
            </a:r>
          </a:p>
          <a:p>
            <a:r>
              <a:rPr lang="en-IN" b="1" dirty="0"/>
              <a:t>7. Embedding Component</a:t>
            </a:r>
          </a:p>
          <a:p>
            <a:r>
              <a:rPr lang="en-IN" dirty="0"/>
              <a:t>Converts recipe chunks into vector embeddings before storage.</a:t>
            </a:r>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workflow -</a:t>
            </a:r>
            <a:endParaRPr sz="2400" b="1">
              <a:sym typeface="Times New Roman"/>
            </a:endParaRPr>
          </a:p>
        </p:txBody>
      </p:sp>
      <p:pic>
        <p:nvPicPr>
          <p:cNvPr id="5" name="Picture 4">
            <a:extLst>
              <a:ext uri="{FF2B5EF4-FFF2-40B4-BE49-F238E27FC236}">
                <a16:creationId xmlns:a16="http://schemas.microsoft.com/office/drawing/2014/main" id="{79EFD499-1FFB-E845-21B2-737AEEF2CE0E}"/>
              </a:ext>
            </a:extLst>
          </p:cNvPr>
          <p:cNvPicPr>
            <a:picLocks noChangeAspect="1"/>
          </p:cNvPicPr>
          <p:nvPr/>
        </p:nvPicPr>
        <p:blipFill>
          <a:blip r:embed="rId3"/>
          <a:srcRect t="18445"/>
          <a:stretch>
            <a:fillRect/>
          </a:stretch>
        </p:blipFill>
        <p:spPr>
          <a:xfrm>
            <a:off x="0" y="930126"/>
            <a:ext cx="12192000" cy="5299186"/>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a:t>
            </a:r>
            <a:endParaRPr lang="en-US" sz="2400"/>
          </a:p>
        </p:txBody>
      </p:sp>
      <p:pic>
        <p:nvPicPr>
          <p:cNvPr id="7" name="Picture 6">
            <a:extLst>
              <a:ext uri="{FF2B5EF4-FFF2-40B4-BE49-F238E27FC236}">
                <a16:creationId xmlns:a16="http://schemas.microsoft.com/office/drawing/2014/main" id="{B9D4D695-01D9-05AB-9310-24F9219323A0}"/>
              </a:ext>
            </a:extLst>
          </p:cNvPr>
          <p:cNvPicPr>
            <a:picLocks noChangeAspect="1"/>
          </p:cNvPicPr>
          <p:nvPr/>
        </p:nvPicPr>
        <p:blipFill>
          <a:blip r:embed="rId3"/>
          <a:srcRect t="15163" b="4691"/>
          <a:stretch>
            <a:fillRect/>
          </a:stretch>
        </p:blipFill>
        <p:spPr>
          <a:xfrm>
            <a:off x="0" y="1041008"/>
            <a:ext cx="12192000" cy="549375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108543"/>
          </a:xfrm>
          <a:prstGeom prst="rect">
            <a:avLst/>
          </a:prstGeom>
          <a:noFill/>
        </p:spPr>
        <p:txBody>
          <a:bodyPr wrap="square" rtlCol="0">
            <a:spAutoFit/>
          </a:bodyPr>
          <a:lstStyle/>
          <a:p>
            <a:r>
              <a:rPr lang="en-US" b="1" dirty="0"/>
              <a:t>Role of Agentic AI in </a:t>
            </a:r>
            <a:r>
              <a:rPr lang="en-IN" dirty="0"/>
              <a:t>Solution</a:t>
            </a:r>
          </a:p>
          <a:p>
            <a:r>
              <a:rPr lang="en-US" b="1" dirty="0"/>
              <a:t>Agentic AI</a:t>
            </a:r>
            <a:r>
              <a:rPr lang="en-US" dirty="0"/>
              <a:t> enables the Recipe Agent to function as an intelligent, autonomous system rather than a simple chatbot. Using </a:t>
            </a:r>
            <a:r>
              <a:rPr lang="en-US" b="1" dirty="0"/>
              <a:t>IBM watsonx.ai</a:t>
            </a:r>
            <a:r>
              <a:rPr lang="en-US" dirty="0"/>
              <a:t> and </a:t>
            </a:r>
            <a:r>
              <a:rPr lang="en-US" b="1" dirty="0"/>
              <a:t>IBM Granite models</a:t>
            </a:r>
            <a:r>
              <a:rPr lang="en-US" dirty="0"/>
              <a:t>, it coordinates multiple specialized agents to deliver personalized nutrition guidance.</a:t>
            </a:r>
          </a:p>
          <a:p>
            <a:r>
              <a:rPr lang="en-US" dirty="0"/>
              <a:t>Each agent performs a specific role—such as retrieving nutritional data, generating diet plans, providing health advice, and analyzing food logs—while working collaboratively. This </a:t>
            </a:r>
            <a:r>
              <a:rPr lang="en-US" b="1" dirty="0"/>
              <a:t>multi-agent approach</a:t>
            </a:r>
            <a:r>
              <a:rPr lang="en-US" dirty="0"/>
              <a:t> ensures efficient task execution and accurate results.</a:t>
            </a:r>
          </a:p>
          <a:p>
            <a:r>
              <a:rPr lang="en-US" dirty="0"/>
              <a:t>Agentic AI also brings </a:t>
            </a:r>
            <a:r>
              <a:rPr lang="en-US" b="1" dirty="0"/>
              <a:t>context awareness</a:t>
            </a:r>
            <a:r>
              <a:rPr lang="en-US" dirty="0"/>
              <a:t>, understanding user details like age, health conditions, and fitness goals to generate tailored recommendations. It supports </a:t>
            </a:r>
            <a:r>
              <a:rPr lang="en-US" b="1" dirty="0"/>
              <a:t>real-time adaptation</a:t>
            </a:r>
            <a:r>
              <a:rPr lang="en-US" dirty="0"/>
              <a:t>, continuously updating suggestions based on user inputs like daily meals.</a:t>
            </a:r>
          </a:p>
          <a:p>
            <a:r>
              <a:rPr lang="en-US" dirty="0"/>
              <a:t>Additionally, agents communicate with each other, enabling better decision-making and improved outcomes.</a:t>
            </a:r>
          </a:p>
          <a:p>
            <a:r>
              <a:rPr lang="en-US" dirty="0"/>
              <a:t>Overall, Agentic AI makes the system proactive, personalized, and goal-driven, acting like a </a:t>
            </a:r>
            <a:r>
              <a:rPr lang="en-US" b="1" dirty="0"/>
              <a:t>smart digital nutritionist</a:t>
            </a:r>
            <a:r>
              <a:rPr lang="en-US" dirty="0"/>
              <a:t> that helps users maintain a healthy lifestyle.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3908762"/>
          </a:xfrm>
          <a:prstGeom prst="rect">
            <a:avLst/>
          </a:prstGeom>
          <a:noFill/>
        </p:spPr>
        <p:txBody>
          <a:bodyPr wrap="square" rtlCol="0">
            <a:spAutoFit/>
          </a:bodyPr>
          <a:lstStyle/>
          <a:p>
            <a:r>
              <a:rPr lang="en-GB" sz="1800" dirty="0"/>
              <a:t>The proposed Recipe Generator combines Agentic AI, Retrieval-Augmented Generation (RAG), and conversational intelligence into one unified cooking assistant.</a:t>
            </a:r>
          </a:p>
          <a:p>
            <a:r>
              <a:rPr lang="en-GB" sz="1800" b="1" dirty="0"/>
              <a:t>Document-Based Intelligence</a:t>
            </a:r>
            <a:r>
              <a:rPr lang="en-GB" sz="1800" dirty="0"/>
              <a:t> – Retrieves information from uploaded recipe documents instead of relying only on pretrained knowledge.</a:t>
            </a:r>
          </a:p>
          <a:p>
            <a:r>
              <a:rPr lang="en-GB" sz="1800" b="1" dirty="0"/>
              <a:t>RAG-Based Accuracy</a:t>
            </a:r>
            <a:r>
              <a:rPr lang="en-GB" sz="1800" dirty="0"/>
              <a:t> – Ensures trustworthy responses by grounding answers in actual recipe sources.</a:t>
            </a:r>
          </a:p>
          <a:p>
            <a:r>
              <a:rPr lang="en-GB" sz="1800" b="1" dirty="0"/>
              <a:t>Personalized Cooking</a:t>
            </a:r>
            <a:r>
              <a:rPr lang="en-GB" sz="1800" dirty="0"/>
              <a:t> – Adapts recipes based on dietary needs, available ingredients, cuisine, cooking time, and user preferences.</a:t>
            </a:r>
          </a:p>
          <a:p>
            <a:r>
              <a:rPr lang="en-GB" sz="1800" b="1" dirty="0"/>
              <a:t>Natural Language Conversations</a:t>
            </a:r>
            <a:r>
              <a:rPr lang="en-GB" sz="1800" dirty="0"/>
              <a:t> – Users interact with the system using simple conversational questions.</a:t>
            </a:r>
          </a:p>
          <a:p>
            <a:r>
              <a:rPr lang="en-GB" sz="1800" b="1" dirty="0"/>
              <a:t>Smart Ingredient Substitution</a:t>
            </a:r>
            <a:r>
              <a:rPr lang="en-GB" sz="1800" dirty="0"/>
              <a:t> – Suggests suitable alternatives for unavailable ingredients.</a:t>
            </a:r>
          </a:p>
          <a:p>
            <a:r>
              <a:rPr lang="en-GB" sz="1800" b="1" dirty="0"/>
              <a:t>Automatic Shopping Lists</a:t>
            </a:r>
            <a:r>
              <a:rPr lang="en-GB" sz="1800" dirty="0"/>
              <a:t> – Generates ingredient shopping lists instantly.</a:t>
            </a:r>
          </a:p>
          <a:p>
            <a:r>
              <a:rPr lang="en-GB" sz="1800" b="1" dirty="0"/>
              <a:t>Nutrition Insights</a:t>
            </a:r>
            <a:r>
              <a:rPr lang="en-GB" sz="1800" dirty="0"/>
              <a:t> – Estimates calories and nutritional values.</a:t>
            </a:r>
          </a:p>
          <a:p>
            <a:r>
              <a:rPr lang="en-GB" sz="1800" b="1" dirty="0"/>
              <a:t>Enterprise Ready</a:t>
            </a:r>
            <a:r>
              <a:rPr lang="en-GB" sz="1800" dirty="0"/>
              <a:t> – Built using IBM </a:t>
            </a:r>
            <a:r>
              <a:rPr lang="en-GB" sz="1800" dirty="0" err="1"/>
              <a:t>LangFlow</a:t>
            </a:r>
            <a:r>
              <a:rPr lang="en-GB" sz="1800" dirty="0"/>
              <a:t>, IBM watsonx.ai, IBM Granite Models, and RAG architecture.</a:t>
            </a:r>
          </a:p>
          <a:p>
            <a:r>
              <a:rPr lang="en-GB" sz="1800" dirty="0"/>
              <a:t>This transforms traditional recipe search into a smart AI-powered cooking assistant.</a:t>
            </a:r>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marL="0" marR="0" lvl="0" indent="0" algn="l" rtl="0">
              <a:lnSpc>
                <a:spcPct val="162162"/>
              </a:lnSpc>
              <a:spcBef>
                <a:spcPts val="0"/>
              </a:spcBef>
              <a:spcAft>
                <a:spcPts val="0"/>
              </a:spcAft>
              <a:buClr>
                <a:srgbClr val="2B3541"/>
              </a:buClr>
              <a:buSzPts val="1850"/>
              <a:buFont typeface="Times New Roman"/>
              <a:buNone/>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a:t>
            </a:r>
            <a:endParaRPr lang="en-US" sz="1850" dirty="0">
              <a:solidFill>
                <a:srgbClr val="2B3541"/>
              </a:solidFill>
              <a:latin typeface="Times New Roman"/>
              <a:ea typeface="Times New Roman"/>
              <a:cs typeface="Times New Roman"/>
            </a:endParaRP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latin typeface="Times New Roman"/>
                <a:ea typeface="Times New Roman"/>
                <a:cs typeface="Times New Roman"/>
              </a:rPr>
            </a:br>
            <a:r>
              <a:rPr lang="en-US" sz="1850" dirty="0">
                <a:solidFill>
                  <a:srgbClr val="2B3541"/>
                </a:solidFill>
                <a:latin typeface="Times New Roman"/>
                <a:ea typeface="Times New Roman"/>
                <a:cs typeface="Times New Roman"/>
                <a:sym typeface="Times New Roman"/>
              </a:rPr>
              <a:t>1) </a:t>
            </a:r>
            <a:r>
              <a:rPr lang="en-US" sz="1850" dirty="0" err="1">
                <a:solidFill>
                  <a:srgbClr val="2B3541"/>
                </a:solidFill>
                <a:latin typeface="Times New Roman"/>
                <a:ea typeface="Times New Roman"/>
                <a:cs typeface="Times New Roman"/>
                <a:sym typeface="Times New Roman"/>
              </a:rPr>
              <a:t>app.json</a:t>
            </a:r>
            <a:r>
              <a:rPr lang="en-US" sz="1850" dirty="0">
                <a:solidFill>
                  <a:srgbClr val="2B3541"/>
                </a:solidFill>
                <a:latin typeface="Times New Roman"/>
                <a:ea typeface="Times New Roman"/>
                <a:cs typeface="Times New Roman"/>
                <a:sym typeface="Times New Roman"/>
              </a:rPr>
              <a:t> file , 2) yourproblemstatement.pdf file  3) your projectpresntation.pptx file 4)any other files </a:t>
            </a:r>
            <a:endParaRPr lang="en-US" sz="1850" dirty="0">
              <a:solidFill>
                <a:srgbClr val="2B3541"/>
              </a:solidFill>
              <a:latin typeface="Times New Roman"/>
              <a:ea typeface="Times New Roman"/>
              <a:cs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853440" y="144904"/>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605387" y="848921"/>
            <a:ext cx="10733173" cy="6009079"/>
          </a:xfrm>
          <a:prstGeom prst="rect">
            <a:avLst/>
          </a:prstGeom>
          <a:noFill/>
          <a:ln>
            <a:noFill/>
          </a:ln>
        </p:spPr>
        <p:txBody>
          <a:bodyPr spcFirstLastPara="1" wrap="square" lIns="0" tIns="0" rIns="0" bIns="0" anchor="t" anchorCtr="0">
            <a:noAutofit/>
          </a:bodyPr>
          <a:lstStyle/>
          <a:p>
            <a:pPr>
              <a:lnSpc>
                <a:spcPct val="150000"/>
              </a:lnSpc>
            </a:pPr>
            <a:r>
              <a:rPr lang="en-GB" sz="2000" b="1" dirty="0"/>
              <a:t>1. Voice-Based Cooking Assistant</a:t>
            </a:r>
            <a:endParaRPr lang="en-GB" sz="2000" dirty="0"/>
          </a:p>
          <a:p>
            <a:pPr>
              <a:lnSpc>
                <a:spcPct val="150000"/>
              </a:lnSpc>
            </a:pPr>
            <a:r>
              <a:rPr lang="en-GB" sz="2000" dirty="0"/>
              <a:t>Users can ask recipe questions through voice while cooking.</a:t>
            </a:r>
          </a:p>
          <a:p>
            <a:pPr>
              <a:lnSpc>
                <a:spcPct val="150000"/>
              </a:lnSpc>
            </a:pPr>
            <a:r>
              <a:rPr lang="en-GB" sz="2000" b="1" dirty="0"/>
              <a:t>2. Image-Based Ingredient Recognition</a:t>
            </a:r>
            <a:endParaRPr lang="en-GB" sz="2000" dirty="0"/>
          </a:p>
          <a:p>
            <a:pPr>
              <a:lnSpc>
                <a:spcPct val="150000"/>
              </a:lnSpc>
            </a:pPr>
            <a:r>
              <a:rPr lang="en-GB" sz="2000" dirty="0"/>
              <a:t>Upload refrigerator images to identify available ingredients and generate recipes automatically.</a:t>
            </a:r>
          </a:p>
          <a:p>
            <a:pPr>
              <a:lnSpc>
                <a:spcPct val="150000"/>
              </a:lnSpc>
            </a:pPr>
            <a:r>
              <a:rPr lang="en-GB" sz="2000" b="1" dirty="0"/>
              <a:t>3. Regional Language Support</a:t>
            </a:r>
            <a:endParaRPr lang="en-GB" sz="2000" dirty="0"/>
          </a:p>
          <a:p>
            <a:pPr>
              <a:lnSpc>
                <a:spcPct val="150000"/>
              </a:lnSpc>
            </a:pPr>
            <a:r>
              <a:rPr lang="en-GB" sz="2000" dirty="0"/>
              <a:t>Support recipes and conversations in multiple Indian and international languages.</a:t>
            </a:r>
          </a:p>
          <a:p>
            <a:pPr>
              <a:lnSpc>
                <a:spcPct val="150000"/>
              </a:lnSpc>
            </a:pPr>
            <a:r>
              <a:rPr lang="en-GB" sz="2000" b="1" dirty="0"/>
              <a:t>4. Meal Planning</a:t>
            </a:r>
            <a:endParaRPr lang="en-GB" sz="2000" dirty="0"/>
          </a:p>
          <a:p>
            <a:pPr>
              <a:lnSpc>
                <a:spcPct val="150000"/>
              </a:lnSpc>
            </a:pPr>
            <a:r>
              <a:rPr lang="en-GB" sz="2000" dirty="0"/>
              <a:t>Generate personalized weekly and monthly meal plans.</a:t>
            </a:r>
          </a:p>
          <a:p>
            <a:pPr>
              <a:lnSpc>
                <a:spcPct val="150000"/>
              </a:lnSpc>
            </a:pPr>
            <a:r>
              <a:rPr lang="en-GB" sz="2000" b="1" dirty="0"/>
              <a:t>5. Smart Kitchen Integration</a:t>
            </a:r>
            <a:endParaRPr lang="en-GB" sz="2000" dirty="0"/>
          </a:p>
          <a:p>
            <a:pPr>
              <a:lnSpc>
                <a:spcPct val="150000"/>
              </a:lnSpc>
            </a:pPr>
            <a:r>
              <a:rPr lang="en-GB" sz="2000" dirty="0"/>
              <a:t>Integrate with IoT-enabled kitchen appliances for automated cooking guidance.</a:t>
            </a:r>
          </a:p>
          <a:p>
            <a:pPr>
              <a:lnSpc>
                <a:spcPct val="150000"/>
              </a:lnSpc>
            </a:pPr>
            <a:r>
              <a:rPr lang="en-GB" sz="2000" b="1" dirty="0"/>
              <a:t>6. Health-Aware Recommendations</a:t>
            </a:r>
            <a:endParaRPr lang="en-GB" sz="2000" dirty="0"/>
          </a:p>
          <a:p>
            <a:pPr>
              <a:lnSpc>
                <a:spcPct val="150000"/>
              </a:lnSpc>
            </a:pPr>
            <a:r>
              <a:rPr lang="en-GB" sz="2000" dirty="0"/>
              <a:t>Recommend recipes based on medical conditions such as diabetes, hypertension, obesity, and allergies.</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pic>
        <p:nvPicPr>
          <p:cNvPr id="5" name="Picture 4">
            <a:extLst>
              <a:ext uri="{FF2B5EF4-FFF2-40B4-BE49-F238E27FC236}">
                <a16:creationId xmlns:a16="http://schemas.microsoft.com/office/drawing/2014/main" id="{D21F0CEC-0B3A-4418-48D1-9841CCD9262B}"/>
              </a:ext>
            </a:extLst>
          </p:cNvPr>
          <p:cNvPicPr>
            <a:picLocks noChangeAspect="1"/>
          </p:cNvPicPr>
          <p:nvPr/>
        </p:nvPicPr>
        <p:blipFill>
          <a:blip r:embed="rId2"/>
          <a:stretch>
            <a:fillRect/>
          </a:stretch>
        </p:blipFill>
        <p:spPr>
          <a:xfrm>
            <a:off x="1919441" y="1213281"/>
            <a:ext cx="8195229" cy="5490831"/>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1AFC637-9649-47F7-0B7E-04ADFAC1A6CF}"/>
              </a:ext>
            </a:extLst>
          </p:cNvPr>
          <p:cNvPicPr>
            <a:picLocks noChangeAspect="1"/>
          </p:cNvPicPr>
          <p:nvPr/>
        </p:nvPicPr>
        <p:blipFill>
          <a:blip r:embed="rId2"/>
          <a:stretch>
            <a:fillRect/>
          </a:stretch>
        </p:blipFill>
        <p:spPr>
          <a:xfrm>
            <a:off x="2095310" y="274170"/>
            <a:ext cx="8001379" cy="5998999"/>
          </a:xfrm>
          <a:prstGeom prst="rect">
            <a:avLst/>
          </a:prstGeom>
        </p:spPr>
      </p:pic>
    </p:spTree>
    <p:extLst>
      <p:ext uri="{BB962C8B-B14F-4D97-AF65-F5344CB8AC3E}">
        <p14:creationId xmlns:p14="http://schemas.microsoft.com/office/powerpoint/2010/main" val="26142177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3" name="Picture 2">
            <a:extLst>
              <a:ext uri="{FF2B5EF4-FFF2-40B4-BE49-F238E27FC236}">
                <a16:creationId xmlns:a16="http://schemas.microsoft.com/office/drawing/2014/main" id="{FB46FC07-FED5-7BDD-1F0F-FAB76CF0F4C3}"/>
              </a:ext>
            </a:extLst>
          </p:cNvPr>
          <p:cNvPicPr>
            <a:picLocks noChangeAspect="1"/>
          </p:cNvPicPr>
          <p:nvPr/>
        </p:nvPicPr>
        <p:blipFill>
          <a:blip r:embed="rId2"/>
          <a:stretch>
            <a:fillRect/>
          </a:stretch>
        </p:blipFill>
        <p:spPr>
          <a:xfrm>
            <a:off x="1651263" y="1170478"/>
            <a:ext cx="9363740" cy="5461131"/>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62</TotalTime>
  <Words>1299</Words>
  <Application>Microsoft Office PowerPoint</Application>
  <PresentationFormat>Widescreen</PresentationFormat>
  <Paragraphs>143</Paragraphs>
  <Slides>16</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Admin</cp:lastModifiedBy>
  <cp:revision>18</cp:revision>
  <dcterms:created xsi:type="dcterms:W3CDTF">2025-07-08T05:06:56Z</dcterms:created>
  <dcterms:modified xsi:type="dcterms:W3CDTF">2026-07-18T07:34:39Z</dcterms:modified>
</cp:coreProperties>
</file>